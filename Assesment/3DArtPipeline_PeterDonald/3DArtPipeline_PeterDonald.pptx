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5" d="100"/>
          <a:sy n="145" d="100"/>
        </p:scale>
        <p:origin x="114" y="10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microsoft.com/office/2007/relationships/hdphoto" Target="../media/hdphoto1.wdp"/><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microsoft.com/office/2007/relationships/hdphoto" Target="../media/hdphoto2.wdp"/><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a:solidFill>
                  <a:srgbClr val="92D050"/>
                </a:solidFill>
                <a:latin typeface="Roboto"/>
                <a:ea typeface="Roboto"/>
                <a:cs typeface="Roboto"/>
                <a:sym typeface="Roboto"/>
              </a:rPr>
              <a:t>Student Name</a:t>
            </a:r>
            <a:endParaRP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Each </a:t>
            </a:r>
            <a:r>
              <a:rPr lang="en-AU" sz="900" i="0" u="none" strike="noStrike" cap="none">
                <a:solidFill>
                  <a:srgbClr val="B7B7B7"/>
                </a:solidFill>
                <a:latin typeface="Roboto"/>
                <a:ea typeface="Roboto"/>
                <a:cs typeface="Roboto"/>
                <a:sym typeface="Roboto"/>
              </a:rPr>
              <a:t>mesh should not exceed the speci</a:t>
            </a:r>
            <a:r>
              <a:rPr lang="en-AU" sz="900" i="0" u="none" strike="noStrike" cap="none">
                <a:solidFill>
                  <a:schemeClr val="bg1">
                    <a:lumMod val="75000"/>
                  </a:schemeClr>
                </a:solidFill>
                <a:latin typeface="Roboto"/>
                <a:ea typeface="Roboto"/>
                <a:cs typeface="Roboto"/>
                <a:sym typeface="Roboto"/>
              </a:rPr>
              <a:t>fied polycount (</a:t>
            </a:r>
            <a:r>
              <a:rPr lang="en-AU" sz="900">
                <a:solidFill>
                  <a:schemeClr val="bg1">
                    <a:lumMod val="75000"/>
                  </a:schemeClr>
                </a:solidFill>
                <a:latin typeface="Roboto"/>
                <a:ea typeface="Roboto"/>
                <a:cs typeface="Roboto"/>
                <a:sym typeface="Roboto"/>
              </a:rPr>
              <a:t>2000 tris).</a:t>
            </a:r>
            <a:endParaRPr lang="en-AU" sz="900" i="0" u="none" strike="noStrike" cap="none">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a:t>
            </a:r>
            <a:r>
              <a:rPr lang="en-AU" sz="900" i="0" u="none" strike="noStrike" cap="none">
                <a:solidFill>
                  <a:srgbClr val="B7B7B7"/>
                </a:solidFill>
                <a:latin typeface="Roboto"/>
                <a:ea typeface="Roboto"/>
                <a:cs typeface="Roboto"/>
                <a:sym typeface="Roboto"/>
              </a:rPr>
              <a:t> topology must be clean and efficient.</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backups must be made throughout production (incremental saves).</a:t>
            </a: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Texturing:</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asset must use a single material.</a:t>
            </a:r>
            <a:endParaRPr lang="en-AU" sz="900" i="0" u="none" strike="noStrike" cap="none">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Textures </a:t>
            </a:r>
            <a:r>
              <a:rPr lang="en-AU" sz="900">
                <a:solidFill>
                  <a:srgbClr val="B7B7B7"/>
                </a:solidFill>
                <a:latin typeface="Roboto"/>
                <a:ea typeface="Roboto"/>
                <a:cs typeface="Roboto"/>
                <a:sym typeface="Roboto"/>
              </a:rPr>
              <a:t>must </a:t>
            </a:r>
            <a:r>
              <a:rPr lang="en-AU" sz="900" i="0" u="none" strike="noStrike" cap="none">
                <a:solidFill>
                  <a:srgbClr val="B7B7B7"/>
                </a:solidFill>
                <a:latin typeface="Roboto"/>
                <a:ea typeface="Roboto"/>
                <a:cs typeface="Roboto"/>
                <a:sym typeface="Roboto"/>
              </a:rPr>
              <a:t>use a non-destructive workflow </a:t>
            </a:r>
            <a:r>
              <a:rPr lang="en-AU" sz="900">
                <a:solidFill>
                  <a:srgbClr val="B7B7B7"/>
                </a:solidFill>
                <a:latin typeface="Roboto"/>
                <a:ea typeface="Roboto"/>
                <a:cs typeface="Roboto"/>
                <a:sym typeface="Roboto"/>
              </a:rPr>
              <a:t>utilising</a:t>
            </a:r>
            <a:r>
              <a:rPr lang="en-AU" sz="900" i="0" u="none" strike="noStrike" cap="none">
                <a:solidFill>
                  <a:srgbClr val="B7B7B7"/>
                </a:solidFill>
                <a:latin typeface="Roboto"/>
                <a:ea typeface="Roboto"/>
                <a:cs typeface="Roboto"/>
                <a:sym typeface="Roboto"/>
              </a:rPr>
              <a:t> layers, masks and blend modes where appropriate.</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All textures are to be exported in the resolution </a:t>
            </a:r>
            <a:r>
              <a:rPr lang="en-AU" sz="900">
                <a:solidFill>
                  <a:srgbClr val="B7B7B7"/>
                </a:solidFill>
                <a:latin typeface="Roboto"/>
                <a:ea typeface="Roboto"/>
                <a:cs typeface="Roboto"/>
                <a:sym typeface="Roboto"/>
              </a:rPr>
              <a:t>specified</a:t>
            </a:r>
            <a:r>
              <a:rPr lang="en-AU" sz="900" i="0" u="none" strike="noStrike" cap="none">
                <a:solidFill>
                  <a:srgbClr val="B7B7B7"/>
                </a:solidFill>
                <a:latin typeface="Roboto"/>
                <a:ea typeface="Roboto"/>
                <a:cs typeface="Roboto"/>
                <a:sym typeface="Roboto"/>
              </a:rPr>
              <a:t> in the asset list (1024x1024) </a:t>
            </a:r>
            <a:r>
              <a:rPr lang="en-AU" sz="900">
                <a:solidFill>
                  <a:srgbClr val="B7B7B7"/>
                </a:solidFill>
                <a:latin typeface="Roboto"/>
                <a:ea typeface="Roboto"/>
                <a:cs typeface="Roboto"/>
                <a:sym typeface="Roboto"/>
              </a:rPr>
              <a:t>in </a:t>
            </a:r>
            <a:r>
              <a:rPr lang="en-AU" sz="900" i="0" u="none" strike="noStrike" cap="none">
                <a:solidFill>
                  <a:srgbClr val="B7B7B7"/>
                </a:solidFill>
                <a:latin typeface="Roboto"/>
                <a:ea typeface="Roboto"/>
                <a:cs typeface="Roboto"/>
                <a:sym typeface="Roboto"/>
              </a:rPr>
              <a:t>.</a:t>
            </a:r>
            <a:r>
              <a:rPr lang="en-AU" sz="900" err="1">
                <a:solidFill>
                  <a:srgbClr val="B7B7B7"/>
                </a:solidFill>
                <a:latin typeface="Roboto"/>
                <a:ea typeface="Roboto"/>
                <a:cs typeface="Roboto"/>
                <a:sym typeface="Roboto"/>
              </a:rPr>
              <a:t>tga</a:t>
            </a:r>
            <a:r>
              <a:rPr lang="en-AU" sz="900" i="0" u="none" strike="noStrike" cap="none">
                <a:solidFill>
                  <a:srgbClr val="B7B7B7"/>
                </a:solidFill>
                <a:latin typeface="Roboto"/>
                <a:ea typeface="Roboto"/>
                <a:cs typeface="Roboto"/>
                <a:sym typeface="Roboto"/>
              </a:rPr>
              <a:t> format.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assets </a:t>
            </a:r>
            <a:r>
              <a:rPr lang="en-AU" sz="900">
                <a:solidFill>
                  <a:srgbClr val="B7B7B7"/>
                </a:solidFill>
                <a:latin typeface="Roboto"/>
                <a:ea typeface="Roboto"/>
                <a:cs typeface="Roboto"/>
                <a:sym typeface="Roboto"/>
              </a:rPr>
              <a:t>must</a:t>
            </a:r>
            <a:r>
              <a:rPr lang="en-AU" sz="900" i="0" u="none" strike="noStrike" cap="none">
                <a:solidFill>
                  <a:srgbClr val="B7B7B7"/>
                </a:solidFill>
                <a:latin typeface="Roboto"/>
                <a:ea typeface="Roboto"/>
                <a:cs typeface="Roboto"/>
                <a:sym typeface="Roboto"/>
              </a:rPr>
              <a:t> be uploaded to a single </a:t>
            </a:r>
            <a:r>
              <a:rPr lang="en-AU" sz="900" err="1">
                <a:solidFill>
                  <a:srgbClr val="B7B7B7"/>
                </a:solidFill>
                <a:latin typeface="Roboto"/>
                <a:ea typeface="Roboto"/>
                <a:cs typeface="Roboto"/>
                <a:sym typeface="Roboto"/>
              </a:rPr>
              <a:t>S</a:t>
            </a:r>
            <a:r>
              <a:rPr lang="en-AU" sz="900" i="0" u="none" strike="noStrike" cap="none" err="1">
                <a:solidFill>
                  <a:srgbClr val="B7B7B7"/>
                </a:solidFill>
                <a:latin typeface="Roboto"/>
                <a:ea typeface="Roboto"/>
                <a:cs typeface="Roboto"/>
                <a:sym typeface="Roboto"/>
              </a:rPr>
              <a:t>ketchfab</a:t>
            </a:r>
            <a:r>
              <a:rPr lang="en-AU" sz="900" i="0" u="none" strike="noStrike" cap="none">
                <a:solidFill>
                  <a:srgbClr val="B7B7B7"/>
                </a:solidFill>
                <a:latin typeface="Roboto"/>
                <a:ea typeface="Roboto"/>
                <a:cs typeface="Roboto"/>
                <a:sym typeface="Roboto"/>
              </a:rPr>
              <a:t> or Marmoset scene and lit appropriatel</a:t>
            </a:r>
            <a:r>
              <a:rPr lang="en-AU" sz="900">
                <a:solidFill>
                  <a:srgbClr val="B7B7B7"/>
                </a:solidFill>
                <a:latin typeface="Roboto"/>
                <a:ea typeface="Roboto"/>
                <a:cs typeface="Roboto"/>
                <a:sym typeface="Roboto"/>
              </a:rPr>
              <a:t>y.</a:t>
            </a:r>
            <a:endParaRPr sz="90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a:solidFill>
                <a:schemeClr val="bg1">
                  <a:lumMod val="95000"/>
                </a:schemeClr>
              </a:solidFill>
            </a:endParaRPr>
          </a:p>
          <a:p>
            <a:pPr marL="171450" indent="-171450">
              <a:buChar char="•"/>
            </a:pPr>
            <a:endParaRPr lang="en-US" sz="90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576447"/>
            <a:ext cx="3996734" cy="3251861"/>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sym typeface="Roboto"/>
              </a:rPr>
            </a:br>
            <a:br>
              <a:rPr lang="en-AU" sz="900" dirty="0">
                <a:latin typeface="Roboto"/>
                <a:ea typeface="Roboto"/>
                <a:cs typeface="Roboto"/>
                <a:sym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solidFill>
                  <a:srgbClr val="B7B7B7"/>
                </a:solidFill>
                <a:latin typeface="Roboto"/>
                <a:ea typeface="Roboto"/>
                <a:cs typeface="Roboto"/>
                <a:sym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working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 </a:t>
            </a:r>
            <a:endParaRPr lang="en-US" sz="900" dirty="0">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dirty="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dirty="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dirty="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dirty="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Bladed Weapon</a:t>
            </a:r>
            <a:r>
              <a:rPr lang="en-AU" sz="900" i="0" u="none" strike="noStrike" cap="none" dirty="0">
                <a:solidFill>
                  <a:srgbClr val="D9D9D9"/>
                </a:solidFill>
                <a:latin typeface="Roboto"/>
                <a:ea typeface="Roboto"/>
                <a:cs typeface="Roboto"/>
                <a:sym typeface="Roboto"/>
              </a:rPr>
              <a:t>:</a:t>
            </a:r>
            <a:endParaRPr sz="900" dirty="0">
              <a:latin typeface="Roboto"/>
              <a:ea typeface="Roboto"/>
              <a:cs typeface="Roboto"/>
              <a:sym typeface="Roboto"/>
            </a:endParaRPr>
          </a:p>
          <a:p>
            <a:pPr marL="0" indent="0">
              <a:spcBef>
                <a:spcPts val="0"/>
              </a:spcBef>
              <a:buNone/>
            </a:pPr>
            <a:r>
              <a:rPr lang="en-US" sz="900" dirty="0">
                <a:solidFill>
                  <a:srgbClr val="92D050"/>
                </a:solidFill>
                <a:latin typeface="Roboto"/>
                <a:ea typeface="Roboto"/>
                <a:cs typeface="Roboto"/>
              </a:rPr>
              <a:t>This polearm features an elegant asymmetrical crescent-shaped blade crafted from high-quality metal. The comfortable leather grip is complemented by a sturdy metal pommel that adds to the weapon's balance and weight. The metal banding along the blade is intricately engraved with mysterious runes that enhance the weapon's mystical properties. The blade and pommel are adorned with sparkling gems that further focus and amplify the weapon's power. Despite showing signs of wear and tear from extensive use, the weapon remains a formidable force to be reckoned with.</a:t>
            </a:r>
          </a:p>
          <a:p>
            <a:pPr marL="0" indent="0">
              <a:spcBef>
                <a:spcPts val="0"/>
              </a:spcBef>
              <a:buNone/>
            </a:pPr>
            <a:endParaRPr lang="en-AU" sz="900" dirty="0">
              <a:solidFill>
                <a:srgbClr val="92D050"/>
              </a:solidFill>
              <a:latin typeface="Roboto"/>
              <a:ea typeface="Roboto"/>
              <a:cs typeface="Roboto"/>
            </a:endParaRPr>
          </a:p>
          <a:p>
            <a:pPr marL="0" indent="0">
              <a:spcBef>
                <a:spcPts val="0"/>
              </a:spcBef>
              <a:buSzPct val="100000"/>
              <a:buNone/>
            </a:pPr>
            <a:r>
              <a:rPr lang="en-AU" sz="900" dirty="0">
                <a:solidFill>
                  <a:srgbClr val="D9D9D9"/>
                </a:solidFill>
                <a:latin typeface="Roboto"/>
                <a:ea typeface="Roboto"/>
                <a:cs typeface="Roboto"/>
                <a:sym typeface="Roboto"/>
              </a:rPr>
              <a:t>Shield</a:t>
            </a:r>
            <a:r>
              <a:rPr lang="en-AU" sz="900" i="0" u="none" strike="noStrike" cap="none" dirty="0">
                <a:solidFill>
                  <a:srgbClr val="D9D9D9"/>
                </a:solidFill>
                <a:latin typeface="Roboto"/>
                <a:ea typeface="Roboto"/>
                <a:cs typeface="Roboto"/>
                <a:sym typeface="Roboto"/>
              </a:rPr>
              <a:t>:</a:t>
            </a:r>
            <a:endParaRPr lang="en-AU" sz="900" dirty="0">
              <a:latin typeface="Roboto"/>
              <a:ea typeface="Roboto"/>
              <a:cs typeface="Roboto"/>
              <a:sym typeface="Roboto"/>
            </a:endParaRPr>
          </a:p>
          <a:p>
            <a:pPr marL="0" indent="0">
              <a:spcBef>
                <a:spcPts val="0"/>
              </a:spcBef>
              <a:buSzPct val="100000"/>
              <a:buNone/>
            </a:pPr>
            <a:r>
              <a:rPr lang="en-US" sz="900" dirty="0">
                <a:solidFill>
                  <a:srgbClr val="92D050"/>
                </a:solidFill>
                <a:latin typeface="Roboto"/>
                <a:ea typeface="Roboto"/>
                <a:sym typeface="Roboto"/>
              </a:rPr>
              <a:t>This curved shield is the perfect complement to the polearm, providing vital protection during combat. The shield is expertly crafted, with a sturdy metal rim that offers exceptional durability and resilience. The center of the shield is crafted using the same high-quality metal as the polearm's blade, imbuing it with powerful mystical properties that enhance its defensive capabilities. In the center of the shield, a spherical gem glitters in the light, mounted on a shining metal plate that catches the eye. Despite bearing the scars of many battles, the shield remains a reliable and effective defense against enemy attacks.</a:t>
            </a:r>
            <a:r>
              <a:rPr lang="en-AU" sz="900" dirty="0">
                <a:solidFill>
                  <a:srgbClr val="92D050"/>
                </a:solidFill>
                <a:latin typeface="Roboto"/>
                <a:ea typeface="Roboto"/>
                <a:sym typeface="Roboto"/>
              </a:rPr>
              <a:t> </a:t>
            </a:r>
            <a:endParaRPr lang="en-AU" sz="900" dirty="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indent="0">
              <a:spcBef>
                <a:spcPts val="0"/>
              </a:spcBef>
              <a:buClr>
                <a:schemeClr val="dk1"/>
              </a:buClr>
              <a:buNone/>
            </a:pPr>
            <a:endParaRPr sz="9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3435536441"/>
              </p:ext>
            </p:extLst>
          </p:nvPr>
        </p:nvGraphicFramePr>
        <p:xfrm>
          <a:off x="622162" y="1402904"/>
          <a:ext cx="7006835" cy="263093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Modelling Method/Techniques</a:t>
                      </a:r>
                      <a:endParaRPr dirty="0"/>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to model the mesh. The pole can be constructed from a cylinder using extrusion, the move tool and scaling. The pommel and gem setting in the blade will be constructed from a cylinder using extrusion, scaling, move and vertex merge (for the gem). The blade will be constructed from a plane that will be shaped to represent the blade and then mirrored with bridging. The edge faces will then be extruded, and a loop-cut added to the face loop to make it possible to create an edge.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here. A plane will be shaped to match reference image and then mirrored with bridging. The edge faces will then be extruded with thickness and offset, extruded with thickness again to create the rim. The metal plate in the centre will be part of a cylinder, the gem will be part of a sphere. The leather padding on the back will be a cube and the front grip on the back will be an extruded cylinder and the back will be an extruded cube.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4171800"/>
            <a:ext cx="8424600" cy="85740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dirty="0">
                <a:solidFill>
                  <a:srgbClr val="D9D9D9"/>
                </a:solidFill>
                <a:latin typeface="Roboto"/>
                <a:ea typeface="Roboto"/>
                <a:cs typeface="Roboto"/>
                <a:sym typeface="Roboto"/>
              </a:rPr>
              <a:t>Describe any intellectual property considerations you should consider when creating any assets.</a:t>
            </a:r>
            <a:br>
              <a:rPr lang="en-US" sz="900" dirty="0">
                <a:latin typeface="Roboto"/>
                <a:ea typeface="Roboto"/>
                <a:cs typeface="Roboto"/>
              </a:rPr>
            </a:br>
            <a:r>
              <a:rPr lang="en-US" sz="900" dirty="0">
                <a:solidFill>
                  <a:srgbClr val="92D050"/>
                </a:solidFill>
                <a:latin typeface="Roboto"/>
                <a:ea typeface="Roboto"/>
                <a:cs typeface="Roboto"/>
                <a:sym typeface="Roboto"/>
              </a:rPr>
              <a:t>The work should omit any trademarks, brands or labeling that are copyrighted and you have not sought permission to use (i.e. Everything in the assignment). For non-copyright material, likeness of real-world people or products should be avoided if consumers are likely to associate the asset with the product directly. Many jurisdictions have personality rights or likeness rights and thus using them in a commercial product requires an agreement. Likeness with an existing person or product that feels disparaged by the asset can also be problematic. If the asset is inspired by an existing asset, then the inspiration should not result in a direct copy but should add substantial new creative work (even if it is just inspiration aggregated from other assets).</a:t>
            </a:r>
            <a:endParaRPr lang="en-US" sz="900" dirty="0">
              <a:solidFill>
                <a:srgbClr val="92D050"/>
              </a:solidFill>
              <a:latin typeface="Roboto"/>
              <a:ea typeface="Roboto"/>
              <a:cs typeface="Roboto"/>
            </a:endParaRPr>
          </a:p>
          <a:p>
            <a:pPr marL="0" indent="0">
              <a:spcBef>
                <a:spcPts val="0"/>
              </a:spcBef>
              <a:buClr>
                <a:schemeClr val="dk1"/>
              </a:buClr>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1239152823"/>
              </p:ext>
            </p:extLst>
          </p:nvPr>
        </p:nvGraphicFramePr>
        <p:xfrm>
          <a:off x="498515" y="1471152"/>
          <a:ext cx="7553984" cy="2524520"/>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Autodesk Maya, (Possibly Blender for sculpting)</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Substance Painter</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469472826"/>
              </p:ext>
            </p:extLst>
          </p:nvPr>
        </p:nvGraphicFramePr>
        <p:xfrm>
          <a:off x="450587" y="1377218"/>
          <a:ext cx="7923282" cy="25137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a:solidFill>
                            <a:srgbClr val="9E9E9E"/>
                          </a:solidFill>
                          <a:latin typeface="Roboto"/>
                          <a:ea typeface="Roboto"/>
                          <a:cs typeface="Roboto"/>
                          <a:sym typeface="Roboto"/>
                        </a:rPr>
                        <a:t>Bladed Weapon</a:t>
                      </a:r>
                      <a:endParaRPr sz="90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2D050"/>
                          </a:solidFill>
                          <a:latin typeface="Roboto"/>
                          <a:ea typeface="Roboto"/>
                          <a:cs typeface="Roboto"/>
                          <a:sym typeface="Roboto"/>
                        </a:rPr>
                        <a:t>.fbx</a:t>
                      </a:r>
                      <a:endParaRPr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cs typeface="Roboto"/>
                        </a:rPr>
                        <a:t>Base </a:t>
                      </a:r>
                      <a:r>
                        <a:rPr lang="en-AU" sz="900" noProof="0">
                          <a:solidFill>
                            <a:srgbClr val="9E9E9E"/>
                          </a:solidFill>
                          <a:latin typeface="Roboto"/>
                          <a:cs typeface="Roboto"/>
                        </a:rPr>
                        <a:t>Color</a:t>
                      </a:r>
                      <a:r>
                        <a:rPr lang="en-AU" sz="900" u="none" strike="noStrike" cap="none">
                          <a:solidFill>
                            <a:srgbClr val="9E9E9E"/>
                          </a:solidFill>
                          <a:latin typeface="Roboto"/>
                          <a:cs typeface="Roboto"/>
                        </a:rPr>
                        <a:t> </a:t>
                      </a:r>
                      <a:r>
                        <a:rPr lang="en-AU" sz="900" u="none" strike="noStrike" cap="none">
                          <a:solidFill>
                            <a:srgbClr val="9E9E9E"/>
                          </a:solidFill>
                          <a:latin typeface="Roboto"/>
                          <a:ea typeface="Roboto"/>
                          <a:cs typeface="Roboto"/>
                        </a:rPr>
                        <a:t>        </a:t>
                      </a:r>
                      <a:endParaRPr lang="en-US"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E9E9E"/>
                          </a:solidFill>
                          <a:latin typeface="Roboto"/>
                          <a:ea typeface="Roboto"/>
                          <a:cs typeface="Roboto"/>
                          <a:sym typeface="Roboto"/>
                        </a:rPr>
                        <a:t>1024x1024</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a:solidFill>
                            <a:srgbClr val="9E9E9E"/>
                          </a:solidFill>
                          <a:latin typeface="Roboto"/>
                          <a:ea typeface="Roboto"/>
                          <a:cs typeface="Roboto"/>
                          <a:sym typeface="Roboto"/>
                        </a:rPr>
                        <a:t>Shield</a:t>
                      </a:r>
                      <a:endParaRPr sz="90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err="1">
                          <a:solidFill>
                            <a:srgbClr val="92D050"/>
                          </a:solidFill>
                          <a:latin typeface="Roboto"/>
                          <a:ea typeface="Roboto"/>
                          <a:cs typeface="Roboto"/>
                          <a:sym typeface="Roboto"/>
                        </a:rPr>
                        <a:t>AssetName.fbx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a:solidFill>
                            <a:srgbClr val="9E9E9E"/>
                          </a:solidFill>
                          <a:latin typeface="Roboto"/>
                          <a:cs typeface="Roboto"/>
                        </a:rPr>
                        <a:t>Base Color</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Metallic</a:t>
                      </a:r>
                      <a:endParaRPr sz="90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a:solidFill>
                            <a:srgbClr val="9E9E9E"/>
                          </a:solidFill>
                          <a:latin typeface="Roboto"/>
                          <a:ea typeface="Roboto"/>
                          <a:cs typeface="Roboto"/>
                        </a:rPr>
                        <a:t>  </a:t>
                      </a:r>
                      <a:endParaRPr sz="90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a:solidFill>
                            <a:srgbClr val="9E9E9E"/>
                          </a:solidFill>
                          <a:latin typeface="Roboto"/>
                          <a:ea typeface="Roboto"/>
                          <a:cs typeface="Roboto"/>
                          <a:sym typeface="Roboto"/>
                        </a:rPr>
                        <a:t>Normal</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a:solidFill>
                            <a:srgbClr val="9E9E9E"/>
                          </a:solidFill>
                          <a:latin typeface="Roboto"/>
                          <a:ea typeface="Roboto"/>
                          <a:cs typeface="Roboto"/>
                        </a:rPr>
                        <a:t>1024x1024</a:t>
                      </a:r>
                      <a:endParaRPr sz="90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rgbClr val="B7B7B7"/>
                        </a:buClr>
                        <a:buSzPts val="900"/>
                        <a:buNone/>
                      </a:pPr>
                      <a:r>
                        <a:rPr lang="en-AU" sz="900" b="0" i="0" u="none" strike="noStrike" noProof="0">
                          <a:solidFill>
                            <a:srgbClr val="9E9E9E"/>
                          </a:solidFill>
                          <a:latin typeface="Roboto"/>
                        </a:rPr>
                        <a:t>1024x1024</a:t>
                      </a:r>
                      <a:endParaRPr>
                        <a:sym typeface="Roboto"/>
                      </a:endParaRPr>
                    </a:p>
                    <a:p>
                      <a:pPr marL="0" lvl="0" indent="0">
                        <a:spcBef>
                          <a:spcPts val="560"/>
                        </a:spcBef>
                        <a:spcAft>
                          <a:spcPts val="0"/>
                        </a:spcAft>
                        <a:buClr>
                          <a:schemeClr val="dk1"/>
                        </a:buClr>
                        <a:buSzPts val="900"/>
                        <a:buNone/>
                      </a:pPr>
                      <a:r>
                        <a:rPr lang="en-AU" sz="900" b="0" i="0" u="none" strike="noStrike" noProof="0">
                          <a:solidFill>
                            <a:srgbClr val="9E9E9E"/>
                          </a:solidFill>
                          <a:latin typeface="Roboto"/>
                        </a:rPr>
                        <a:t>1024x1024</a:t>
                      </a:r>
                      <a:endParaRPr>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err="1">
                          <a:solidFill>
                            <a:srgbClr val="9E9E9E"/>
                          </a:solidFill>
                          <a:latin typeface="Roboto"/>
                          <a:cs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grpSp>
        <p:nvGrpSpPr>
          <p:cNvPr id="6" name="Group 5">
            <a:extLst>
              <a:ext uri="{FF2B5EF4-FFF2-40B4-BE49-F238E27FC236}">
                <a16:creationId xmlns:a16="http://schemas.microsoft.com/office/drawing/2014/main" id="{D082FE1F-3D33-4B97-8930-96B3573B7675}"/>
              </a:ext>
            </a:extLst>
          </p:cNvPr>
          <p:cNvGrpSpPr/>
          <p:nvPr/>
        </p:nvGrpSpPr>
        <p:grpSpPr>
          <a:xfrm>
            <a:off x="4584870" y="1614748"/>
            <a:ext cx="2644560" cy="2793402"/>
            <a:chOff x="4584870" y="1614748"/>
            <a:chExt cx="2644560" cy="2793402"/>
          </a:xfrm>
        </p:grpSpPr>
        <p:pic>
          <p:nvPicPr>
            <p:cNvPr id="4" name="Picture 3">
              <a:extLst>
                <a:ext uri="{FF2B5EF4-FFF2-40B4-BE49-F238E27FC236}">
                  <a16:creationId xmlns:a16="http://schemas.microsoft.com/office/drawing/2014/main" id="{D9D6FC13-EDE5-46DA-AA32-5FF8B12AEB58}"/>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6000" contrast="22000"/>
                      </a14:imgEffect>
                    </a14:imgLayer>
                  </a14:imgProps>
                </a:ext>
              </a:extLst>
            </a:blip>
            <a:srcRect r="6739" b="1489"/>
            <a:stretch/>
          </p:blipFill>
          <p:spPr>
            <a:xfrm>
              <a:off x="4584870" y="1614748"/>
              <a:ext cx="2644560" cy="2793402"/>
            </a:xfrm>
            <a:prstGeom prst="rect">
              <a:avLst/>
            </a:prstGeom>
          </p:spPr>
        </p:pic>
        <p:sp>
          <p:nvSpPr>
            <p:cNvPr id="11" name="Google Shape;272;p42">
              <a:extLst>
                <a:ext uri="{FF2B5EF4-FFF2-40B4-BE49-F238E27FC236}">
                  <a16:creationId xmlns:a16="http://schemas.microsoft.com/office/drawing/2014/main" id="{1BC25DC1-1966-4E5D-90BE-872694C8DA16}"/>
                </a:ext>
              </a:extLst>
            </p:cNvPr>
            <p:cNvSpPr txBox="1"/>
            <p:nvPr/>
          </p:nvSpPr>
          <p:spPr>
            <a:xfrm rot="19853250">
              <a:off x="4886447" y="2647530"/>
              <a:ext cx="2041407" cy="45511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Using 3D primitives create a primitive blockout for each of your assets based on the selected thumbnail. Screen capture the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and insert them below.</a:t>
            </a:r>
            <a:br>
              <a:rPr lang="en-AU" sz="900">
                <a:latin typeface="Roboto"/>
                <a:ea typeface="Roboto"/>
                <a:cs typeface="Roboto"/>
              </a:rPr>
            </a:br>
            <a:endParaRPr>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grpSp>
        <p:nvGrpSpPr>
          <p:cNvPr id="4" name="Group 3">
            <a:extLst>
              <a:ext uri="{FF2B5EF4-FFF2-40B4-BE49-F238E27FC236}">
                <a16:creationId xmlns:a16="http://schemas.microsoft.com/office/drawing/2014/main" id="{B6CF16C9-3ED1-4720-A4E9-5798CD010F26}"/>
              </a:ext>
            </a:extLst>
          </p:cNvPr>
          <p:cNvGrpSpPr/>
          <p:nvPr/>
        </p:nvGrpSpPr>
        <p:grpSpPr>
          <a:xfrm>
            <a:off x="4771103" y="1772983"/>
            <a:ext cx="2244336" cy="2468933"/>
            <a:chOff x="4771103" y="1772983"/>
            <a:chExt cx="2244336" cy="2468933"/>
          </a:xfrm>
        </p:grpSpPr>
        <p:pic>
          <p:nvPicPr>
            <p:cNvPr id="3" name="Picture 2">
              <a:extLst>
                <a:ext uri="{FF2B5EF4-FFF2-40B4-BE49-F238E27FC236}">
                  <a16:creationId xmlns:a16="http://schemas.microsoft.com/office/drawing/2014/main" id="{B3C423FE-71F6-46F2-B2A0-4B785223B07B}"/>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1000"/>
                      </a14:imgEffect>
                    </a14:imgLayer>
                  </a14:imgProps>
                </a:ext>
              </a:extLst>
            </a:blip>
            <a:srcRect l="13216" t="10674" r="12266" b="10663"/>
            <a:stretch/>
          </p:blipFill>
          <p:spPr>
            <a:xfrm>
              <a:off x="4771103" y="1772983"/>
              <a:ext cx="2145890" cy="2468933"/>
            </a:xfrm>
            <a:prstGeom prst="rect">
              <a:avLst/>
            </a:prstGeom>
          </p:spPr>
        </p:pic>
        <p:sp>
          <p:nvSpPr>
            <p:cNvPr id="14" name="Google Shape;272;p42">
              <a:extLst>
                <a:ext uri="{FF2B5EF4-FFF2-40B4-BE49-F238E27FC236}">
                  <a16:creationId xmlns:a16="http://schemas.microsoft.com/office/drawing/2014/main" id="{7C963620-2E9B-4CFD-86DA-24FD553E167D}"/>
                </a:ext>
              </a:extLst>
            </p:cNvPr>
            <p:cNvSpPr txBox="1"/>
            <p:nvPr/>
          </p:nvSpPr>
          <p:spPr>
            <a:xfrm rot="19853250">
              <a:off x="4887353" y="2615952"/>
              <a:ext cx="2128086" cy="44573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rtl="0">
                <a:spcBef>
                  <a:spcPts val="0"/>
                </a:spcBef>
                <a:spcAft>
                  <a:spcPts val="0"/>
                </a:spcAft>
                <a:buNone/>
              </a:pPr>
              <a:r>
                <a:rPr lang="en-AU" sz="3000">
                  <a:solidFill>
                    <a:srgbClr val="92D050"/>
                  </a:solidFill>
                  <a:latin typeface="Roboto"/>
                  <a:ea typeface="Roboto"/>
                  <a:cs typeface="Roboto"/>
                  <a:sym typeface="Roboto"/>
                </a:rPr>
                <a:t>EXAMPLE</a:t>
              </a:r>
              <a:endParaRPr sz="3000">
                <a:solidFill>
                  <a:srgbClr val="92D050"/>
                </a:solidFill>
                <a:latin typeface="Roboto"/>
                <a:ea typeface="Roboto"/>
                <a:cs typeface="Roboto"/>
                <a:sym typeface="Robot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941076680"/>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2406265939"/>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Props1.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218D13B-F8BD-43E1-BB30-8F39E449765E}">
  <ds:schemaRefs>
    <ds:schemaRef ds:uri="http://schemas.microsoft.com/sharepoint/v3/contenttype/forms"/>
  </ds:schemaRefs>
</ds:datastoreItem>
</file>

<file path=customXml/itemProps3.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100</TotalTime>
  <Words>2758</Words>
  <Application>Microsoft Office PowerPoint</Application>
  <PresentationFormat>On-screen Show (16:9)</PresentationFormat>
  <Paragraphs>332</Paragraphs>
  <Slides>31</Slides>
  <Notes>31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31</vt:i4>
      </vt:variant>
    </vt:vector>
  </HeadingPairs>
  <TitlesOfParts>
    <vt:vector size="39" baseType="lpstr">
      <vt:lpstr>Arial,Sans-Serif</vt:lpstr>
      <vt:lpstr>Times New Roman</vt:lpstr>
      <vt:lpstr>Roboto</vt:lpstr>
      <vt:lpstr>Calibri</vt:lpstr>
      <vt:lpstr>Arial</vt: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lastModifiedBy>Peter Donald</cp:lastModifiedBy>
  <cp:revision>81</cp:revision>
  <dcterms:modified xsi:type="dcterms:W3CDTF">2023-02-15T10:10:14Z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